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rice SemiExpanded" charset="1" panose="00000000000000000000"/>
      <p:regular r:id="rId13"/>
    </p:embeddedFont>
    <p:embeddedFont>
      <p:font typeface="Now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2312" y="2019655"/>
            <a:ext cx="5045546" cy="5008851"/>
          </a:xfrm>
          <a:custGeom>
            <a:avLst/>
            <a:gdLst/>
            <a:ahLst/>
            <a:cxnLst/>
            <a:rect r="r" b="b" t="t" l="l"/>
            <a:pathLst>
              <a:path h="5008851" w="5045546">
                <a:moveTo>
                  <a:pt x="0" y="0"/>
                </a:moveTo>
                <a:lnTo>
                  <a:pt x="5045545" y="0"/>
                </a:lnTo>
                <a:lnTo>
                  <a:pt x="5045545" y="5008851"/>
                </a:lnTo>
                <a:lnTo>
                  <a:pt x="0" y="5008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7656">
            <a:off x="3868369" y="4653814"/>
            <a:ext cx="4211184" cy="3483798"/>
          </a:xfrm>
          <a:custGeom>
            <a:avLst/>
            <a:gdLst/>
            <a:ahLst/>
            <a:cxnLst/>
            <a:rect r="r" b="b" t="t" l="l"/>
            <a:pathLst>
              <a:path h="3483798" w="4211184">
                <a:moveTo>
                  <a:pt x="0" y="0"/>
                </a:moveTo>
                <a:lnTo>
                  <a:pt x="4211185" y="0"/>
                </a:lnTo>
                <a:lnTo>
                  <a:pt x="4211185" y="3483798"/>
                </a:lnTo>
                <a:lnTo>
                  <a:pt x="0" y="348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1800830"/>
            <a:ext cx="7551122" cy="6685341"/>
            <a:chOff x="0" y="0"/>
            <a:chExt cx="10068162" cy="89137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0068162" cy="6492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sz="7999">
                  <a:solidFill>
                    <a:srgbClr val="FFFFFF"/>
                  </a:solidFill>
                  <a:latin typeface="Brice SemiExpanded"/>
                  <a:ea typeface="Brice SemiExpanded"/>
                  <a:cs typeface="Brice SemiExpanded"/>
                  <a:sym typeface="Brice SemiExpanded"/>
                </a:rPr>
                <a:t>UI/UX Analysis of Popular Apps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182108"/>
              <a:ext cx="10068162" cy="1731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YouTube, Facebook, InShot, Lark Player &amp; SnapTube — Identifying UI elements &amp; UX patterns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2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865029"/>
            <a:ext cx="15787861" cy="12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sz="7994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YouTube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29130" y="5229726"/>
            <a:ext cx="7918098" cy="2256658"/>
          </a:xfrm>
          <a:custGeom>
            <a:avLst/>
            <a:gdLst/>
            <a:ahLst/>
            <a:cxnLst/>
            <a:rect r="r" b="b" t="t" l="l"/>
            <a:pathLst>
              <a:path h="2256658" w="7918098">
                <a:moveTo>
                  <a:pt x="0" y="0"/>
                </a:moveTo>
                <a:lnTo>
                  <a:pt x="7918098" y="0"/>
                </a:lnTo>
                <a:lnTo>
                  <a:pt x="7918098" y="2256658"/>
                </a:lnTo>
                <a:lnTo>
                  <a:pt x="0" y="2256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61306" y="4756452"/>
            <a:ext cx="4355552" cy="4312488"/>
          </a:xfrm>
          <a:custGeom>
            <a:avLst/>
            <a:gdLst/>
            <a:ahLst/>
            <a:cxnLst/>
            <a:rect r="r" b="b" t="t" l="l"/>
            <a:pathLst>
              <a:path h="4312488" w="4355552">
                <a:moveTo>
                  <a:pt x="0" y="0"/>
                </a:moveTo>
                <a:lnTo>
                  <a:pt x="4355551" y="0"/>
                </a:lnTo>
                <a:lnTo>
                  <a:pt x="4355551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313635"/>
            <a:ext cx="2607301" cy="122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6"/>
              </a:lnSpc>
            </a:pPr>
            <a:r>
              <a:rPr lang="en-US" sz="2354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Bottom navigation bar for easy access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12743" y="4139603"/>
            <a:ext cx="3542754" cy="3657037"/>
          </a:xfrm>
          <a:custGeom>
            <a:avLst/>
            <a:gdLst/>
            <a:ahLst/>
            <a:cxnLst/>
            <a:rect r="r" b="b" t="t" l="l"/>
            <a:pathLst>
              <a:path h="3657037" w="3542754">
                <a:moveTo>
                  <a:pt x="0" y="0"/>
                </a:moveTo>
                <a:lnTo>
                  <a:pt x="3542755" y="0"/>
                </a:lnTo>
                <a:lnTo>
                  <a:pt x="3542755" y="3657037"/>
                </a:lnTo>
                <a:lnTo>
                  <a:pt x="0" y="3657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48071"/>
            <a:ext cx="3931127" cy="1288026"/>
            <a:chOff x="0" y="0"/>
            <a:chExt cx="5241503" cy="1717368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17368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305373"/>
              <a:ext cx="4545263" cy="1068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96"/>
                </a:lnSpc>
              </a:pPr>
              <a:r>
                <a:rPr lang="en-US" sz="2354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Minimized video player with gesture controls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2873564" y="4112228"/>
            <a:ext cx="2843205" cy="2857468"/>
          </a:xfrm>
          <a:custGeom>
            <a:avLst/>
            <a:gdLst/>
            <a:ahLst/>
            <a:cxnLst/>
            <a:rect r="r" b="b" t="t" l="l"/>
            <a:pathLst>
              <a:path h="2857468" w="2843205">
                <a:moveTo>
                  <a:pt x="0" y="0"/>
                </a:moveTo>
                <a:lnTo>
                  <a:pt x="2843205" y="0"/>
                </a:lnTo>
                <a:lnTo>
                  <a:pt x="2843205" y="2857468"/>
                </a:lnTo>
                <a:lnTo>
                  <a:pt x="0" y="2857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5163687"/>
            <a:ext cx="2441762" cy="122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6"/>
              </a:lnSpc>
            </a:pPr>
            <a:r>
              <a:rPr lang="en-US" sz="2354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Shorts feed integration for vertical scrolling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2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898865"/>
            <a:ext cx="15787861" cy="117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1"/>
              </a:lnSpc>
            </a:pPr>
            <a:r>
              <a:rPr lang="en-US" sz="7701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Facebook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209433" y="3121687"/>
            <a:ext cx="3946775" cy="6906856"/>
          </a:xfrm>
          <a:custGeom>
            <a:avLst/>
            <a:gdLst/>
            <a:ahLst/>
            <a:cxnLst/>
            <a:rect r="r" b="b" t="t" l="l"/>
            <a:pathLst>
              <a:path h="6906856" w="3946775">
                <a:moveTo>
                  <a:pt x="0" y="0"/>
                </a:moveTo>
                <a:lnTo>
                  <a:pt x="3946775" y="0"/>
                </a:lnTo>
                <a:lnTo>
                  <a:pt x="3946775" y="6906857"/>
                </a:lnTo>
                <a:lnTo>
                  <a:pt x="0" y="6906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9697" y="4748395"/>
            <a:ext cx="4687807" cy="4312488"/>
          </a:xfrm>
          <a:custGeom>
            <a:avLst/>
            <a:gdLst/>
            <a:ahLst/>
            <a:cxnLst/>
            <a:rect r="r" b="b" t="t" l="l"/>
            <a:pathLst>
              <a:path h="4312488" w="4687807">
                <a:moveTo>
                  <a:pt x="0" y="0"/>
                </a:moveTo>
                <a:lnTo>
                  <a:pt x="4687808" y="0"/>
                </a:lnTo>
                <a:lnTo>
                  <a:pt x="4687808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267129"/>
            <a:ext cx="2607301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Tab bar navigation for quick access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72170" y="4159976"/>
            <a:ext cx="3406086" cy="3515959"/>
          </a:xfrm>
          <a:custGeom>
            <a:avLst/>
            <a:gdLst/>
            <a:ahLst/>
            <a:cxnLst/>
            <a:rect r="r" b="b" t="t" l="l"/>
            <a:pathLst>
              <a:path h="3515959" w="3406086">
                <a:moveTo>
                  <a:pt x="0" y="0"/>
                </a:moveTo>
                <a:lnTo>
                  <a:pt x="3406086" y="0"/>
                </a:lnTo>
                <a:lnTo>
                  <a:pt x="3406086" y="3515959"/>
                </a:lnTo>
                <a:lnTo>
                  <a:pt x="0" y="3515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7124027"/>
            <a:ext cx="3931127" cy="1336114"/>
            <a:chOff x="0" y="0"/>
            <a:chExt cx="5241503" cy="1781486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1781486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95848"/>
              <a:ext cx="4545263" cy="1142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Stories carousel with reaction animations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2839832" y="4259015"/>
            <a:ext cx="2937381" cy="2564793"/>
          </a:xfrm>
          <a:custGeom>
            <a:avLst/>
            <a:gdLst/>
            <a:ahLst/>
            <a:cxnLst/>
            <a:rect r="r" b="b" t="t" l="l"/>
            <a:pathLst>
              <a:path h="2564793" w="2937381">
                <a:moveTo>
                  <a:pt x="0" y="0"/>
                </a:moveTo>
                <a:lnTo>
                  <a:pt x="2937381" y="0"/>
                </a:lnTo>
                <a:lnTo>
                  <a:pt x="2937381" y="2564793"/>
                </a:lnTo>
                <a:lnTo>
                  <a:pt x="0" y="2564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4896092"/>
            <a:ext cx="2441762" cy="175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News Feed infinite scroll with auto-refresh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2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865029"/>
            <a:ext cx="15787861" cy="12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sz="7994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InShot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97330">
            <a:off x="2342859" y="4829352"/>
            <a:ext cx="3668115" cy="3037260"/>
          </a:xfrm>
          <a:custGeom>
            <a:avLst/>
            <a:gdLst/>
            <a:ahLst/>
            <a:cxnLst/>
            <a:rect r="r" b="b" t="t" l="l"/>
            <a:pathLst>
              <a:path h="3037260" w="3668115">
                <a:moveTo>
                  <a:pt x="0" y="0"/>
                </a:moveTo>
                <a:lnTo>
                  <a:pt x="3668115" y="0"/>
                </a:lnTo>
                <a:lnTo>
                  <a:pt x="3668115" y="3037260"/>
                </a:lnTo>
                <a:lnTo>
                  <a:pt x="0" y="3037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46524" y="4730114"/>
            <a:ext cx="4630860" cy="4312488"/>
          </a:xfrm>
          <a:custGeom>
            <a:avLst/>
            <a:gdLst/>
            <a:ahLst/>
            <a:cxnLst/>
            <a:rect r="r" b="b" t="t" l="l"/>
            <a:pathLst>
              <a:path h="4312488" w="4630860">
                <a:moveTo>
                  <a:pt x="0" y="0"/>
                </a:moveTo>
                <a:lnTo>
                  <a:pt x="4630860" y="0"/>
                </a:lnTo>
                <a:lnTo>
                  <a:pt x="4630860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096" y="6488219"/>
            <a:ext cx="2607301" cy="86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Timeline-based video editor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50325" y="4163627"/>
            <a:ext cx="3414842" cy="3773306"/>
          </a:xfrm>
          <a:custGeom>
            <a:avLst/>
            <a:gdLst/>
            <a:ahLst/>
            <a:cxnLst/>
            <a:rect r="r" b="b" t="t" l="l"/>
            <a:pathLst>
              <a:path h="3773306" w="3414842">
                <a:moveTo>
                  <a:pt x="0" y="0"/>
                </a:moveTo>
                <a:lnTo>
                  <a:pt x="3414843" y="0"/>
                </a:lnTo>
                <a:lnTo>
                  <a:pt x="3414843" y="3773306"/>
                </a:lnTo>
                <a:lnTo>
                  <a:pt x="0" y="3773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54425">
            <a:off x="11923688" y="6902937"/>
            <a:ext cx="3931127" cy="1778294"/>
            <a:chOff x="0" y="0"/>
            <a:chExt cx="5241503" cy="2371059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5241503" cy="2371059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48120" y="295848"/>
              <a:ext cx="4545263" cy="1731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Preview-centric workspace with drag handles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934930">
            <a:off x="12907853" y="3690868"/>
            <a:ext cx="2842178" cy="3964501"/>
          </a:xfrm>
          <a:custGeom>
            <a:avLst/>
            <a:gdLst/>
            <a:ahLst/>
            <a:cxnLst/>
            <a:rect r="r" b="b" t="t" l="l"/>
            <a:pathLst>
              <a:path h="3964501" w="2842178">
                <a:moveTo>
                  <a:pt x="0" y="0"/>
                </a:moveTo>
                <a:lnTo>
                  <a:pt x="2842179" y="0"/>
                </a:lnTo>
                <a:lnTo>
                  <a:pt x="2842179" y="3964501"/>
                </a:lnTo>
                <a:lnTo>
                  <a:pt x="0" y="3964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7130" y="5117182"/>
            <a:ext cx="2441762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Floating action buttons for quick tools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2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069" y="1963696"/>
            <a:ext cx="15787861" cy="104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36"/>
              </a:lnSpc>
            </a:pPr>
            <a:r>
              <a:rPr lang="en-US" sz="6863">
                <a:solidFill>
                  <a:srgbClr val="000000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Lark Player - UI/UX Elements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149934" y="4755312"/>
            <a:ext cx="6955626" cy="4312488"/>
          </a:xfrm>
          <a:custGeom>
            <a:avLst/>
            <a:gdLst/>
            <a:ahLst/>
            <a:cxnLst/>
            <a:rect r="r" b="b" t="t" l="l"/>
            <a:pathLst>
              <a:path h="4312488" w="6955626">
                <a:moveTo>
                  <a:pt x="0" y="0"/>
                </a:moveTo>
                <a:lnTo>
                  <a:pt x="6955626" y="0"/>
                </a:lnTo>
                <a:lnTo>
                  <a:pt x="6955626" y="4312488"/>
                </a:lnTo>
                <a:lnTo>
                  <a:pt x="0" y="4312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24096" y="6488219"/>
            <a:ext cx="2607301" cy="86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Gesture-based controls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95014" y="4416051"/>
            <a:ext cx="3905742" cy="2939585"/>
          </a:xfrm>
          <a:custGeom>
            <a:avLst/>
            <a:gdLst/>
            <a:ahLst/>
            <a:cxnLst/>
            <a:rect r="r" b="b" t="t" l="l"/>
            <a:pathLst>
              <a:path h="2939585" w="3905742">
                <a:moveTo>
                  <a:pt x="0" y="0"/>
                </a:moveTo>
                <a:lnTo>
                  <a:pt x="3905742" y="0"/>
                </a:lnTo>
                <a:lnTo>
                  <a:pt x="3905742" y="2939585"/>
                </a:lnTo>
                <a:lnTo>
                  <a:pt x="0" y="293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54425">
            <a:off x="11923688" y="6902937"/>
            <a:ext cx="3931127" cy="1778294"/>
            <a:chOff x="0" y="0"/>
            <a:chExt cx="5241503" cy="2371059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5241503" cy="2371059"/>
            </a:xfrm>
            <a:prstGeom prst="rect">
              <a:avLst/>
            </a:prstGeom>
            <a:solidFill>
              <a:srgbClr val="FFEC18"/>
            </a:solid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48120" y="295848"/>
              <a:ext cx="4545263" cy="1731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7"/>
                </a:lnSpc>
              </a:pPr>
              <a:r>
                <a:rPr lang="en-US" sz="249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Auto-folder organization with swipe navigation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934930">
            <a:off x="12928485" y="4331330"/>
            <a:ext cx="2791491" cy="2501522"/>
          </a:xfrm>
          <a:custGeom>
            <a:avLst/>
            <a:gdLst/>
            <a:ahLst/>
            <a:cxnLst/>
            <a:rect r="r" b="b" t="t" l="l"/>
            <a:pathLst>
              <a:path h="2501522" w="2791491">
                <a:moveTo>
                  <a:pt x="0" y="0"/>
                </a:moveTo>
                <a:lnTo>
                  <a:pt x="2791491" y="0"/>
                </a:lnTo>
                <a:lnTo>
                  <a:pt x="2791491" y="2501523"/>
                </a:lnTo>
                <a:lnTo>
                  <a:pt x="0" y="250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27130" y="5117182"/>
            <a:ext cx="2441762" cy="131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Floating video window pip mode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0186" y="6652983"/>
            <a:ext cx="10987627" cy="1561083"/>
            <a:chOff x="0" y="0"/>
            <a:chExt cx="14650170" cy="20814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4650170" cy="1294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633"/>
                </a:lnSpc>
              </a:pPr>
              <a:r>
                <a:rPr lang="en-US" sz="6361">
                  <a:solidFill>
                    <a:srgbClr val="FFFFFF"/>
                  </a:solidFill>
                  <a:latin typeface="Brice SemiExpanded"/>
                  <a:ea typeface="Brice SemiExpanded"/>
                  <a:cs typeface="Brice SemiExpanded"/>
                  <a:sym typeface="Brice SemiExpanded"/>
                </a:rPr>
                <a:t>Common UX Patterns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593037"/>
              <a:ext cx="14650170" cy="48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39"/>
                </a:lnSpc>
              </a:pPr>
              <a:r>
                <a:rPr lang="en-US" sz="2171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YouTube, Facebook, InShot, Lark Player &amp; Snaptube share key interaction patterns.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00350" y="1919225"/>
            <a:ext cx="5938183" cy="3778844"/>
          </a:xfrm>
          <a:custGeom>
            <a:avLst/>
            <a:gdLst/>
            <a:ahLst/>
            <a:cxnLst/>
            <a:rect r="r" b="b" t="t" l="l"/>
            <a:pathLst>
              <a:path h="3778844" w="5938183">
                <a:moveTo>
                  <a:pt x="0" y="0"/>
                </a:moveTo>
                <a:lnTo>
                  <a:pt x="5938184" y="0"/>
                </a:lnTo>
                <a:lnTo>
                  <a:pt x="5938184" y="3778844"/>
                </a:lnTo>
                <a:lnTo>
                  <a:pt x="0" y="377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649466" y="1919225"/>
            <a:ext cx="5938183" cy="3778844"/>
          </a:xfrm>
          <a:custGeom>
            <a:avLst/>
            <a:gdLst/>
            <a:ahLst/>
            <a:cxnLst/>
            <a:rect r="r" b="b" t="t" l="l"/>
            <a:pathLst>
              <a:path h="3778844" w="5938183">
                <a:moveTo>
                  <a:pt x="5938184" y="0"/>
                </a:moveTo>
                <a:lnTo>
                  <a:pt x="0" y="0"/>
                </a:lnTo>
                <a:lnTo>
                  <a:pt x="0" y="3778844"/>
                </a:lnTo>
                <a:lnTo>
                  <a:pt x="5938184" y="3778844"/>
                </a:lnTo>
                <a:lnTo>
                  <a:pt x="59381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6754" y="3017131"/>
            <a:ext cx="3301763" cy="153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9"/>
              </a:lnSpc>
            </a:pPr>
            <a:r>
              <a:rPr lang="en-US" sz="21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Bottom navigation &amp; gesture-based swiping are universal across all 5 apps.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79949" y="3209997"/>
            <a:ext cx="3301763" cy="114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9"/>
              </a:lnSpc>
            </a:pPr>
            <a:r>
              <a:rPr lang="en-US" sz="217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Content-first design: media fills the screen, controls fade or hide.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3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19792">
            <a:off x="11963400" y="3243737"/>
            <a:ext cx="2858132" cy="4855079"/>
          </a:xfrm>
          <a:custGeom>
            <a:avLst/>
            <a:gdLst/>
            <a:ahLst/>
            <a:cxnLst/>
            <a:rect r="r" b="b" t="t" l="l"/>
            <a:pathLst>
              <a:path h="4855079" w="2858132">
                <a:moveTo>
                  <a:pt x="0" y="0"/>
                </a:moveTo>
                <a:lnTo>
                  <a:pt x="2858131" y="0"/>
                </a:lnTo>
                <a:lnTo>
                  <a:pt x="2858131" y="4855079"/>
                </a:lnTo>
                <a:lnTo>
                  <a:pt x="0" y="485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32549" y="1697639"/>
            <a:ext cx="8433283" cy="8660625"/>
          </a:xfrm>
          <a:custGeom>
            <a:avLst/>
            <a:gdLst/>
            <a:ahLst/>
            <a:cxnLst/>
            <a:rect r="r" b="b" t="t" l="l"/>
            <a:pathLst>
              <a:path h="8660625" w="8433283">
                <a:moveTo>
                  <a:pt x="0" y="0"/>
                </a:moveTo>
                <a:lnTo>
                  <a:pt x="8433284" y="0"/>
                </a:lnTo>
                <a:lnTo>
                  <a:pt x="8433284" y="8660625"/>
                </a:lnTo>
                <a:lnTo>
                  <a:pt x="0" y="8660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0830" y="1595966"/>
            <a:ext cx="13546340" cy="12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</a:pPr>
            <a:r>
              <a:rPr lang="en-US" sz="7994">
                <a:solidFill>
                  <a:srgbClr val="FFFFFF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Thumb-first. Always.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15116" y="4948310"/>
            <a:ext cx="3457767" cy="219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Great mobile UX puts controls within thumb reach and keeps content flowing seamlessly.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98659">
            <a:off x="3030303" y="4148490"/>
            <a:ext cx="3407300" cy="3210977"/>
          </a:xfrm>
          <a:custGeom>
            <a:avLst/>
            <a:gdLst/>
            <a:ahLst/>
            <a:cxnLst/>
            <a:rect r="r" b="b" t="t" l="l"/>
            <a:pathLst>
              <a:path h="3210977" w="3407300">
                <a:moveTo>
                  <a:pt x="0" y="0"/>
                </a:moveTo>
                <a:lnTo>
                  <a:pt x="3407300" y="0"/>
                </a:lnTo>
                <a:lnTo>
                  <a:pt x="3407300" y="3210977"/>
                </a:lnTo>
                <a:lnTo>
                  <a:pt x="0" y="3210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DAHOTHmRcBY</dc:identifier>
  <dcterms:modified xsi:type="dcterms:W3CDTF">2011-08-01T06:04:30Z</dcterms:modified>
  <cp:revision>1</cp:revision>
</cp:coreProperties>
</file>